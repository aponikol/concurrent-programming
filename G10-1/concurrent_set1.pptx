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7" r:id="rId4"/>
    <p:sldId id="268" r:id="rId5"/>
    <p:sldId id="271" r:id="rId6"/>
    <p:sldId id="272" r:id="rId7"/>
    <p:sldId id="260" r:id="rId8"/>
    <p:sldId id="264" r:id="rId9"/>
    <p:sldId id="265" r:id="rId10"/>
    <p:sldId id="269" r:id="rId11"/>
    <p:sldId id="257" r:id="rId12"/>
    <p:sldId id="258" r:id="rId13"/>
    <p:sldId id="259" r:id="rId14"/>
    <p:sldId id="270" r:id="rId15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D0767-46D3-4B2C-BD78-4105B409B4A5}" v="1068" dt="2024-10-19T20:01:40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8"/>
  </p:normalViewPr>
  <p:slideViewPr>
    <p:cSldViewPr snapToGrid="0">
      <p:cViewPr>
        <p:scale>
          <a:sx n="94" d="100"/>
          <a:sy n="94" d="100"/>
        </p:scale>
        <p:origin x="312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TAZIDIS MARGARITIS" userId="S::mpantazidis@o365.uth.gr::f9c15e02-f091-4a3d-920b-01f11c34d742" providerId="AD" clId="Web-{E8FD0767-46D3-4B2C-BD78-4105B409B4A5}"/>
    <pc:docChg chg="addSld modSld">
      <pc:chgData name="PANTAZIDIS MARGARITIS" userId="S::mpantazidis@o365.uth.gr::f9c15e02-f091-4a3d-920b-01f11c34d742" providerId="AD" clId="Web-{E8FD0767-46D3-4B2C-BD78-4105B409B4A5}" dt="2024-10-19T20:01:40.337" v="1054" actId="20577"/>
      <pc:docMkLst>
        <pc:docMk/>
      </pc:docMkLst>
      <pc:sldChg chg="modSp new">
        <pc:chgData name="PANTAZIDIS MARGARITIS" userId="S::mpantazidis@o365.uth.gr::f9c15e02-f091-4a3d-920b-01f11c34d742" providerId="AD" clId="Web-{E8FD0767-46D3-4B2C-BD78-4105B409B4A5}" dt="2024-10-19T19:33:52.075" v="368" actId="20577"/>
        <pc:sldMkLst>
          <pc:docMk/>
          <pc:sldMk cId="3953457048" sldId="266"/>
        </pc:sldMkLst>
        <pc:spChg chg="mod">
          <ac:chgData name="PANTAZIDIS MARGARITIS" userId="S::mpantazidis@o365.uth.gr::f9c15e02-f091-4a3d-920b-01f11c34d742" providerId="AD" clId="Web-{E8FD0767-46D3-4B2C-BD78-4105B409B4A5}" dt="2024-10-19T19:24:41.689" v="12" actId="20577"/>
          <ac:spMkLst>
            <pc:docMk/>
            <pc:sldMk cId="3953457048" sldId="266"/>
            <ac:spMk id="2" creationId="{C9025C17-E48D-DD63-99E2-704B89B28177}"/>
          </ac:spMkLst>
        </pc:spChg>
        <pc:spChg chg="mod">
          <ac:chgData name="PANTAZIDIS MARGARITIS" userId="S::mpantazidis@o365.uth.gr::f9c15e02-f091-4a3d-920b-01f11c34d742" providerId="AD" clId="Web-{E8FD0767-46D3-4B2C-BD78-4105B409B4A5}" dt="2024-10-19T19:33:52.075" v="368" actId="20577"/>
          <ac:spMkLst>
            <pc:docMk/>
            <pc:sldMk cId="3953457048" sldId="266"/>
            <ac:spMk id="3" creationId="{215F34CA-A28E-FA83-F0E0-26058AAB05BE}"/>
          </ac:spMkLst>
        </pc:spChg>
      </pc:sldChg>
      <pc:sldChg chg="addSp modSp new">
        <pc:chgData name="PANTAZIDIS MARGARITIS" userId="S::mpantazidis@o365.uth.gr::f9c15e02-f091-4a3d-920b-01f11c34d742" providerId="AD" clId="Web-{E8FD0767-46D3-4B2C-BD78-4105B409B4A5}" dt="2024-10-19T19:57:31.376" v="793" actId="20577"/>
        <pc:sldMkLst>
          <pc:docMk/>
          <pc:sldMk cId="517187567" sldId="267"/>
        </pc:sldMkLst>
        <pc:spChg chg="mod">
          <ac:chgData name="PANTAZIDIS MARGARITIS" userId="S::mpantazidis@o365.uth.gr::f9c15e02-f091-4a3d-920b-01f11c34d742" providerId="AD" clId="Web-{E8FD0767-46D3-4B2C-BD78-4105B409B4A5}" dt="2024-10-19T19:48:39.771" v="779" actId="20577"/>
          <ac:spMkLst>
            <pc:docMk/>
            <pc:sldMk cId="517187567" sldId="267"/>
            <ac:spMk id="2" creationId="{16C6AD1C-104B-97CC-8524-A4BBFB1E34D6}"/>
          </ac:spMkLst>
        </pc:spChg>
        <pc:spChg chg="mod">
          <ac:chgData name="PANTAZIDIS MARGARITIS" userId="S::mpantazidis@o365.uth.gr::f9c15e02-f091-4a3d-920b-01f11c34d742" providerId="AD" clId="Web-{E8FD0767-46D3-4B2C-BD78-4105B409B4A5}" dt="2024-10-19T19:57:31.376" v="793" actId="20577"/>
          <ac:spMkLst>
            <pc:docMk/>
            <pc:sldMk cId="517187567" sldId="267"/>
            <ac:spMk id="3" creationId="{B3474E01-CB30-6FDA-AB46-E58E54126E68}"/>
          </ac:spMkLst>
        </pc:spChg>
        <pc:picChg chg="add mod">
          <ac:chgData name="PANTAZIDIS MARGARITIS" userId="S::mpantazidis@o365.uth.gr::f9c15e02-f091-4a3d-920b-01f11c34d742" providerId="AD" clId="Web-{E8FD0767-46D3-4B2C-BD78-4105B409B4A5}" dt="2024-10-19T19:44:01.559" v="705" actId="1076"/>
          <ac:picMkLst>
            <pc:docMk/>
            <pc:sldMk cId="517187567" sldId="267"/>
            <ac:picMk id="4" creationId="{53FB088B-8706-9630-F756-5CE3DF289F1F}"/>
          </ac:picMkLst>
        </pc:picChg>
        <pc:picChg chg="add mod">
          <ac:chgData name="PANTAZIDIS MARGARITIS" userId="S::mpantazidis@o365.uth.gr::f9c15e02-f091-4a3d-920b-01f11c34d742" providerId="AD" clId="Web-{E8FD0767-46D3-4B2C-BD78-4105B409B4A5}" dt="2024-10-19T19:45:19.171" v="708" actId="1076"/>
          <ac:picMkLst>
            <pc:docMk/>
            <pc:sldMk cId="517187567" sldId="267"/>
            <ac:picMk id="5" creationId="{34F015B0-6A45-8188-4416-8345443C99D3}"/>
          </ac:picMkLst>
        </pc:picChg>
        <pc:picChg chg="add mod">
          <ac:chgData name="PANTAZIDIS MARGARITIS" userId="S::mpantazidis@o365.uth.gr::f9c15e02-f091-4a3d-920b-01f11c34d742" providerId="AD" clId="Web-{E8FD0767-46D3-4B2C-BD78-4105B409B4A5}" dt="2024-10-19T19:57:22.016" v="789" actId="1076"/>
          <ac:picMkLst>
            <pc:docMk/>
            <pc:sldMk cId="517187567" sldId="267"/>
            <ac:picMk id="6" creationId="{BB90A15D-6B21-8D51-FAED-22025C7788F5}"/>
          </ac:picMkLst>
        </pc:picChg>
      </pc:sldChg>
      <pc:sldChg chg="modSp new">
        <pc:chgData name="PANTAZIDIS MARGARITIS" userId="S::mpantazidis@o365.uth.gr::f9c15e02-f091-4a3d-920b-01f11c34d742" providerId="AD" clId="Web-{E8FD0767-46D3-4B2C-BD78-4105B409B4A5}" dt="2024-10-19T20:01:40.337" v="1054" actId="20577"/>
        <pc:sldMkLst>
          <pc:docMk/>
          <pc:sldMk cId="3607529240" sldId="268"/>
        </pc:sldMkLst>
        <pc:spChg chg="mod">
          <ac:chgData name="PANTAZIDIS MARGARITIS" userId="S::mpantazidis@o365.uth.gr::f9c15e02-f091-4a3d-920b-01f11c34d742" providerId="AD" clId="Web-{E8FD0767-46D3-4B2C-BD78-4105B409B4A5}" dt="2024-10-19T19:57:49.595" v="802" actId="20577"/>
          <ac:spMkLst>
            <pc:docMk/>
            <pc:sldMk cId="3607529240" sldId="268"/>
            <ac:spMk id="2" creationId="{BE33C4BC-4225-9687-1AEF-13E570D609AE}"/>
          </ac:spMkLst>
        </pc:spChg>
        <pc:spChg chg="mod">
          <ac:chgData name="PANTAZIDIS MARGARITIS" userId="S::mpantazidis@o365.uth.gr::f9c15e02-f091-4a3d-920b-01f11c34d742" providerId="AD" clId="Web-{E8FD0767-46D3-4B2C-BD78-4105B409B4A5}" dt="2024-10-19T20:01:40.337" v="1054" actId="20577"/>
          <ac:spMkLst>
            <pc:docMk/>
            <pc:sldMk cId="3607529240" sldId="268"/>
            <ac:spMk id="3" creationId="{86D825E9-6718-F628-28EE-8D1BAC41F8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E3524-DB89-E743-B204-4D947FBB5585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309CF-F58E-EC4D-96E9-CD41C8750795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98446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309CF-F58E-EC4D-96E9-CD41C8750795}" type="slidenum">
              <a:rPr lang="en-GR" smtClean="0"/>
              <a:t>1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7390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0635-BB65-0DCF-CBD6-9FD10DD66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D498-02E1-B9FA-8349-19C8A7F6F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172FF-CC82-AB4D-585E-5096E234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E2E99-7AD3-8696-A5DD-5E056920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D0B9-7707-434A-9A44-3BEE9BB0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1221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D7D3-7304-1B4D-6885-B1AE3010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B6A6-82B1-68EF-A916-90038122F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E4584-6136-F29F-6999-3A6487D1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6C763-D8A4-0C64-6E82-CDD7A343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4D74F-1043-228C-6AFA-B0F13EC5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8499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2AE3-A68F-56A6-4560-2C61720BA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818D1-C541-D209-5B2A-562E1A908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B8D9-836B-E678-B644-0339673B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CAC6-D806-7390-4519-23AA635B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BF9A-5B66-0682-020F-CAB86166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4073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1C5F-D8EE-7B64-5644-4A208FCA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E8916-92B1-2540-4269-22A89DDBC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C0254-6FDF-FCE2-2F7B-424236FE8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82B26-64CE-CACB-605E-02680F3F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BE30F-2846-B1C9-5EE1-091959F3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F066D-6D33-F335-3B6C-036E238A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8498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F234-02D9-579F-1DFA-E2A5A014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9609-2869-65ED-0FAB-FA49963D7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3EEF1-F140-1907-AC70-EE4AC346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D4217-3945-2F84-E601-295654E3A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91900-1AEC-629E-CB81-8411CE440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2A195-E0D0-F976-7F1F-850874EB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53D3B-1B69-638C-47E5-23AE744C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DDD5C-CA29-87AE-4A5E-81AF9DFA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743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EDF1-9682-74B5-C963-779E5CCF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96397-52D9-3E0C-0CB8-79372671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01ADE-9FFE-8A57-90EF-37A4A99F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A0FCC-37E5-6CAC-33C7-2383C361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4112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ECF7A-6F81-08BF-2B4E-494EDCE9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F6A0C-D8EE-746B-C4D6-AFC4B7AD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F732F-6CF6-443B-6857-6A702050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5975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330A-B620-8967-949A-690B5F80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63C3-61CF-E456-4ECB-CB58D8D37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3ADC7-EC65-20BE-9D4E-D585A7190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F15AE-617B-B1F4-B410-31895261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7014F-1461-225D-342A-D1B9C29A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50242-35C7-4236-DDA0-4FA01716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6147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A6B9-EEF3-8F09-4BCD-D61564D0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DC592-02A7-FB17-865A-956C5BA3C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0DE48-C542-BB61-ECFD-EF93D0031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F1934-C952-A7DB-F38E-3F601C1A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010BC-70DD-18CC-6488-8F90E767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6B7E-CEC1-25ED-CD1C-CC1F6AAB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6345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ED2F-EC2C-812F-C067-2D30EF4D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C44E6-B08F-6202-782B-013F9D0E0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BD84-C20A-FDCD-7523-A0E9264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4B01E-902F-6843-8933-0F39B679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8A29-0799-FE6F-4CC8-4B25B9E6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9917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61368-897B-AE49-C841-F117D6E81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523AB-B5AF-D590-7A71-0894DAC89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37DA0-77FF-72AD-5F6F-390C3D70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EF42E-6E82-5E47-2EAD-BF55EDDF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B840-F74D-5407-D6CE-AC5F9611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3483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81E0F-B08B-4E3B-262D-85B6F291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EA7B7-E440-6DDC-C456-758C362E6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2ECED-768C-E5D4-B5D1-AFC0BFC74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B995-FB4B-A74D-BB2E-424FCB5F1DCE}" type="datetimeFigureOut">
              <a:rPr lang="en-GR" smtClean="0"/>
              <a:t>23/10/24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2D59E-0A63-8700-025C-F0DD6C94A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0B73B-12BB-77B6-BA89-AFA55A52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B952D-9B78-7D44-AD5D-B74EE3A22950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90720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C89A-494C-4E3A-ED29-D8623C7FA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l-GR" dirty="0"/>
              <a:t>Παρουσίαση Ταυτόχρονου</a:t>
            </a:r>
            <a:br>
              <a:rPr lang="el-GR" dirty="0"/>
            </a:br>
            <a:r>
              <a:rPr lang="el-GR" dirty="0"/>
              <a:t>1η σειρά εργασιών</a:t>
            </a:r>
            <a:endParaRPr lang="en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85EF2-F156-F4B1-D08A-06B5BB7D1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86" y="3732665"/>
            <a:ext cx="9144000" cy="2002971"/>
          </a:xfrm>
        </p:spPr>
        <p:txBody>
          <a:bodyPr>
            <a:normAutofit/>
          </a:bodyPr>
          <a:lstStyle/>
          <a:p>
            <a:r>
              <a:rPr lang="el-GR" sz="3200" dirty="0">
                <a:solidFill>
                  <a:srgbClr val="757575"/>
                </a:solidFill>
                <a:effectLst/>
                <a:latin typeface="Helvetica" pitchFamily="2" charset="0"/>
              </a:rPr>
              <a:t>Απόστολος Νικολαΐδης</a:t>
            </a:r>
          </a:p>
          <a:p>
            <a:r>
              <a:rPr lang="el-GR" sz="3200" dirty="0">
                <a:solidFill>
                  <a:srgbClr val="757575"/>
                </a:solidFill>
                <a:effectLst/>
                <a:latin typeface="Helvetica" pitchFamily="2" charset="0"/>
              </a:rPr>
              <a:t>Μαργαρίτης </a:t>
            </a:r>
            <a:r>
              <a:rPr lang="el-GR" sz="3200" dirty="0" err="1">
                <a:solidFill>
                  <a:srgbClr val="757575"/>
                </a:solidFill>
                <a:effectLst/>
                <a:latin typeface="Helvetica" pitchFamily="2" charset="0"/>
              </a:rPr>
              <a:t>Πανταζίδης</a:t>
            </a:r>
            <a:endParaRPr lang="el-GR" sz="3200" dirty="0">
              <a:solidFill>
                <a:srgbClr val="757575"/>
              </a:solidFill>
              <a:effectLst/>
              <a:latin typeface="Helvetica" pitchFamily="2" charset="0"/>
            </a:endParaRPr>
          </a:p>
          <a:p>
            <a:r>
              <a:rPr lang="el-GR" sz="3200" dirty="0">
                <a:solidFill>
                  <a:srgbClr val="757575"/>
                </a:solidFill>
                <a:latin typeface="Helvetica" pitchFamily="2" charset="0"/>
              </a:rPr>
              <a:t>Χρήστος </a:t>
            </a:r>
            <a:r>
              <a:rPr lang="el-GR" sz="3200" dirty="0" err="1">
                <a:solidFill>
                  <a:srgbClr val="757575"/>
                </a:solidFill>
                <a:latin typeface="Helvetica" pitchFamily="2" charset="0"/>
              </a:rPr>
              <a:t>Μουντάκης</a:t>
            </a:r>
            <a:endParaRPr lang="el-GR" sz="3200" dirty="0">
              <a:solidFill>
                <a:srgbClr val="757575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465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9025C17-E48D-DD63-99E2-704B89B2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Περιγραφή προβλήματος 1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15F34CA-A28E-FA83-F0E0-26058AAB0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l-GR" dirty="0"/>
              <a:t>Το πρόγραμμα δέχεται ως είσοδο ένα αρχείο με περιεχόμενο </a:t>
            </a:r>
            <a:r>
              <a:rPr lang="el-GR" err="1"/>
              <a:t>ascii</a:t>
            </a:r>
            <a:r>
              <a:rPr lang="el-GR" dirty="0"/>
              <a:t> και μέσω αγωγών </a:t>
            </a:r>
            <a:r>
              <a:rPr lang="el-GR" err="1"/>
              <a:t>Ring</a:t>
            </a:r>
            <a:r>
              <a:rPr lang="el-GR" dirty="0"/>
              <a:t> </a:t>
            </a:r>
            <a:r>
              <a:rPr lang="el-GR" err="1"/>
              <a:t>buffers</a:t>
            </a:r>
            <a:r>
              <a:rPr lang="el-GR" dirty="0"/>
              <a:t> διαβάζει τα δεδομένα και τα γράφει σε ένα καινούργιο </a:t>
            </a:r>
            <a:r>
              <a:rPr lang="el-GR" err="1"/>
              <a:t>file</a:t>
            </a:r>
            <a:r>
              <a:rPr lang="el-GR" dirty="0"/>
              <a:t> με την βοήθεια 2 διαφορετικών </a:t>
            </a:r>
            <a:r>
              <a:rPr lang="el-GR" err="1"/>
              <a:t>threads</a:t>
            </a:r>
            <a:r>
              <a:rPr lang="el-GR" dirty="0"/>
              <a:t> ξεχωριστά. Υλοποιούμε τις συναρτήσεις </a:t>
            </a:r>
            <a:r>
              <a:rPr lang="el-GR" err="1"/>
              <a:t>open</a:t>
            </a:r>
            <a:r>
              <a:rPr lang="el-GR" dirty="0"/>
              <a:t> </a:t>
            </a:r>
            <a:r>
              <a:rPr lang="el-GR" err="1"/>
              <a:t>read</a:t>
            </a:r>
            <a:r>
              <a:rPr lang="el-GR" dirty="0"/>
              <a:t> </a:t>
            </a:r>
            <a:r>
              <a:rPr lang="el-GR" err="1"/>
              <a:t>write</a:t>
            </a:r>
            <a:r>
              <a:rPr lang="el-GR" dirty="0"/>
              <a:t> και </a:t>
            </a:r>
            <a:r>
              <a:rPr lang="el-GR" err="1"/>
              <a:t>writedone</a:t>
            </a:r>
            <a:r>
              <a:rPr lang="el-GR" dirty="0"/>
              <a:t> </a:t>
            </a:r>
            <a:r>
              <a:rPr lang="el-GR" err="1"/>
              <a:t>προσβάσιμες</a:t>
            </a:r>
            <a:r>
              <a:rPr lang="el-GR" dirty="0"/>
              <a:t> προς τον χρήστη σε μία βιβλιοθήκη και στην συνέχεια ο χρήστης επιλέγει τον τρόπο χρήσης τους στην </a:t>
            </a:r>
            <a:r>
              <a:rPr lang="el-GR" err="1"/>
              <a:t>main</a:t>
            </a:r>
            <a:endParaRPr lang="el-GR" dirty="0"/>
          </a:p>
          <a:p>
            <a:r>
              <a:rPr lang="el-GR" dirty="0"/>
              <a:t>Παραθέτουμε στην εργασία την βιβλιοθήκη που περιλαμβάνει τις εντολές και την </a:t>
            </a:r>
            <a:r>
              <a:rPr lang="el-GR" dirty="0" err="1"/>
              <a:t>main</a:t>
            </a:r>
            <a:r>
              <a:rPr lang="el-GR" dirty="0"/>
              <a:t> όπου περιλαμβάνει τις </a:t>
            </a:r>
            <a:r>
              <a:rPr lang="el-GR" dirty="0" err="1"/>
              <a:t>ρουτίνες</a:t>
            </a:r>
            <a:r>
              <a:rPr lang="el-GR" dirty="0"/>
              <a:t> και κάνουμε </a:t>
            </a:r>
            <a:r>
              <a:rPr lang="el-GR" dirty="0" err="1"/>
              <a:t>testing</a:t>
            </a:r>
            <a:r>
              <a:rPr lang="el-GR" dirty="0"/>
              <a:t> την λειτουργικότητα των εντολών.</a:t>
            </a:r>
          </a:p>
        </p:txBody>
      </p:sp>
    </p:spTree>
    <p:extLst>
      <p:ext uri="{BB962C8B-B14F-4D97-AF65-F5344CB8AC3E}">
        <p14:creationId xmlns:p14="http://schemas.microsoft.com/office/powerpoint/2010/main" val="395345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6C6AD1C-104B-97CC-8524-A4BBFB1E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600" dirty="0"/>
              <a:t>Περιγραφή επικοινωνίας και συγχρονισμού </a:t>
            </a:r>
            <a:r>
              <a:rPr lang="el-GR" sz="3600" dirty="0" err="1"/>
              <a:t>threads</a:t>
            </a:r>
            <a:r>
              <a:rPr lang="el-GR" sz="3600" dirty="0"/>
              <a:t> 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3474E01-CB30-6FDA-AB46-E58E5412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l-GR" sz="2000" dirty="0"/>
              <a:t>Ο συγχρονισμός στο πρόβλημα είναι συγχρονισμός μεταξύ δυο </a:t>
            </a:r>
            <a:r>
              <a:rPr lang="el-GR" sz="2000" dirty="0" err="1"/>
              <a:t>threads</a:t>
            </a:r>
            <a:r>
              <a:rPr lang="el-GR" sz="2000" dirty="0"/>
              <a:t> ( </a:t>
            </a:r>
            <a:r>
              <a:rPr lang="el-GR" sz="2000" dirty="0" err="1"/>
              <a:t>read</a:t>
            </a:r>
            <a:r>
              <a:rPr lang="el-GR" sz="2000" dirty="0"/>
              <a:t> </a:t>
            </a:r>
            <a:r>
              <a:rPr lang="el-GR" sz="2000" dirty="0" err="1"/>
              <a:t>write</a:t>
            </a:r>
            <a:r>
              <a:rPr lang="el-GR" sz="2000" dirty="0"/>
              <a:t> ) . Αποφεύγουμε το πρόβλημα του η </a:t>
            </a:r>
            <a:r>
              <a:rPr lang="el-GR" sz="2000" dirty="0" err="1"/>
              <a:t>write</a:t>
            </a:r>
            <a:r>
              <a:rPr lang="el-GR" sz="2000" dirty="0"/>
              <a:t> να κάνει </a:t>
            </a:r>
            <a:r>
              <a:rPr lang="el-GR" sz="2000" dirty="0" err="1"/>
              <a:t>overwrite</a:t>
            </a:r>
            <a:r>
              <a:rPr lang="el-GR" sz="2000" dirty="0"/>
              <a:t> </a:t>
            </a:r>
            <a:r>
              <a:rPr lang="el-GR" sz="2000" dirty="0" err="1"/>
              <a:t>δεδόμενα</a:t>
            </a:r>
            <a:r>
              <a:rPr lang="el-GR" sz="2000" dirty="0"/>
              <a:t> που δεν έχει διαβάσει η </a:t>
            </a:r>
            <a:r>
              <a:rPr lang="el-GR" sz="2000" dirty="0" err="1"/>
              <a:t>read</a:t>
            </a:r>
            <a:r>
              <a:rPr lang="el-GR" sz="2000" dirty="0"/>
              <a:t> με την βοήθεια </a:t>
            </a:r>
            <a:r>
              <a:rPr lang="el-GR" sz="2000" dirty="0" err="1"/>
              <a:t>struct</a:t>
            </a:r>
            <a:r>
              <a:rPr lang="el-GR" sz="2000" dirty="0"/>
              <a:t> που περιλαμβάνει δείκτες στις θέσεις γραφής και ανάγνωσης αρχείου κάθε δεδομένη στιγμή. Έτσι με την βοήθεια της συνθήκης </a:t>
            </a:r>
            <a:r>
              <a:rPr lang="el-GR" sz="2000" dirty="0" err="1"/>
              <a:t>while</a:t>
            </a:r>
            <a:r>
              <a:rPr lang="el-GR" sz="2000" dirty="0"/>
              <a:t> η </a:t>
            </a:r>
            <a:r>
              <a:rPr lang="el-GR" sz="2000" dirty="0" err="1"/>
              <a:t>write</a:t>
            </a:r>
            <a:r>
              <a:rPr lang="el-GR" sz="2000" dirty="0"/>
              <a:t> βρίσκεται σε ενεργή αναμονή όταν φτάνει τον δείκτη </a:t>
            </a:r>
            <a:r>
              <a:rPr lang="el-GR" sz="2000" dirty="0" err="1"/>
              <a:t>read</a:t>
            </a:r>
            <a:r>
              <a:rPr lang="el-GR" sz="2000" dirty="0"/>
              <a:t>: </a:t>
            </a:r>
          </a:p>
          <a:p>
            <a:endParaRPr lang="el-GR" sz="2000" dirty="0"/>
          </a:p>
          <a:p>
            <a:endParaRPr lang="el-GR" sz="2000" dirty="0"/>
          </a:p>
          <a:p>
            <a:endParaRPr lang="el-GR" sz="2000" dirty="0"/>
          </a:p>
          <a:p>
            <a:endParaRPr lang="el-GR" sz="2000" dirty="0"/>
          </a:p>
          <a:p>
            <a:r>
              <a:rPr lang="el-GR" sz="2000" dirty="0"/>
              <a:t>Η </a:t>
            </a:r>
            <a:r>
              <a:rPr lang="el-GR" sz="2000" dirty="0" err="1"/>
              <a:t>main</a:t>
            </a:r>
            <a:r>
              <a:rPr lang="el-GR" sz="2000" dirty="0"/>
              <a:t> περιμένει την λήξη των συναρτήσεων μπαίνοντας σε </a:t>
            </a:r>
            <a:r>
              <a:rPr lang="el-GR" sz="2000" dirty="0" err="1"/>
              <a:t>spin</a:t>
            </a:r>
            <a:r>
              <a:rPr lang="el-GR" sz="2000" dirty="0"/>
              <a:t> </a:t>
            </a:r>
            <a:r>
              <a:rPr lang="el-GR" sz="2000" dirty="0" err="1"/>
              <a:t>loop</a:t>
            </a:r>
            <a:r>
              <a:rPr lang="el-GR" sz="2000" dirty="0"/>
              <a:t> από το οποίο βγαίνει με την βοήθεια </a:t>
            </a:r>
            <a:r>
              <a:rPr lang="el-GR" sz="2000" dirty="0" err="1"/>
              <a:t>global</a:t>
            </a:r>
            <a:r>
              <a:rPr lang="el-GR" sz="2000" dirty="0"/>
              <a:t> </a:t>
            </a:r>
            <a:r>
              <a:rPr lang="el-GR" sz="2000" dirty="0" err="1"/>
              <a:t>flags</a:t>
            </a:r>
            <a:r>
              <a:rPr lang="el-GR" sz="2000" dirty="0"/>
              <a:t> </a:t>
            </a:r>
          </a:p>
          <a:p>
            <a:endParaRPr lang="el-GR" sz="2000" dirty="0"/>
          </a:p>
          <a:p>
            <a:endParaRPr lang="el-GR" sz="2000" dirty="0"/>
          </a:p>
          <a:p>
            <a:endParaRPr lang="el-GR" sz="2000" dirty="0"/>
          </a:p>
          <a:p>
            <a:endParaRPr lang="el-GR" sz="2000" dirty="0"/>
          </a:p>
        </p:txBody>
      </p:sp>
      <p:pic>
        <p:nvPicPr>
          <p:cNvPr id="4" name="Εικόνα 3" descr="Εικόνα που περιέχει κείμενο, γραμματοσειρά, στιγμιότυπο οθόνης&#10;&#10;Περιγραφή που δημιουργήθηκε αυτόματα">
            <a:extLst>
              <a:ext uri="{FF2B5EF4-FFF2-40B4-BE49-F238E27FC236}">
                <a16:creationId xmlns:a16="http://schemas.microsoft.com/office/drawing/2014/main" id="{53FB088B-8706-9630-F756-5CE3DF289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3278207"/>
            <a:ext cx="5695950" cy="723900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στιγμιότυπο οθόνης, γραμματοσειρά, σχεδίαση&#10;&#10;Περιγραφή που δημιουργήθηκε αυτόματα">
            <a:extLst>
              <a:ext uri="{FF2B5EF4-FFF2-40B4-BE49-F238E27FC236}">
                <a16:creationId xmlns:a16="http://schemas.microsoft.com/office/drawing/2014/main" id="{34F015B0-6A45-8188-4416-8345443C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199" y="3052131"/>
            <a:ext cx="1905000" cy="1598364"/>
          </a:xfrm>
          <a:prstGeom prst="rect">
            <a:avLst/>
          </a:prstGeom>
        </p:spPr>
      </p:pic>
      <p:pic>
        <p:nvPicPr>
          <p:cNvPr id="6" name="Εικόνα 5" descr="Εικόνα που περιέχει κείμενο, γραμματοσειρά, στιγμιότυπο οθόνης, γραφικά&#10;&#10;Περιγραφή που δημιουργήθηκε αυτόματα">
            <a:extLst>
              <a:ext uri="{FF2B5EF4-FFF2-40B4-BE49-F238E27FC236}">
                <a16:creationId xmlns:a16="http://schemas.microsoft.com/office/drawing/2014/main" id="{BB90A15D-6B21-8D51-FAED-22025C778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971" y="5264972"/>
            <a:ext cx="32289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8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E33C4BC-4225-9687-1AEF-13E570D6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Βιβλιοθήκη και πρόσβαση χρήστη στα δεδομένα της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6D825E9-6718-F628-28EE-8D1BAC41F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l-GR" sz="3600" dirty="0"/>
              <a:t>Για την υλοποίηση της βιβλιοθήκης υπήρχε η ανάγκη δημιουργίας εσωτερικών συναρτήσεων και </a:t>
            </a:r>
            <a:r>
              <a:rPr lang="el-GR" sz="3600" dirty="0" err="1"/>
              <a:t>global</a:t>
            </a:r>
            <a:r>
              <a:rPr lang="el-GR" sz="3600" dirty="0"/>
              <a:t> μεταβλητών πέρα των, ζητούμενων λειτουργιών, όπου αποτρέπουμε την πρόσβαση του χρήστη στα δεδομένα με κατάλληλο </a:t>
            </a:r>
            <a:r>
              <a:rPr lang="el-GR" sz="3600" dirty="0" err="1"/>
              <a:t>header</a:t>
            </a:r>
            <a:r>
              <a:rPr lang="el-GR" sz="3600" dirty="0"/>
              <a:t> </a:t>
            </a:r>
            <a:r>
              <a:rPr lang="el-GR" sz="3600" dirty="0" err="1"/>
              <a:t>file</a:t>
            </a:r>
            <a:r>
              <a:rPr lang="el-GR" sz="3600" dirty="0"/>
              <a:t> και </a:t>
            </a:r>
            <a:r>
              <a:rPr lang="el-GR" sz="3600" dirty="0" err="1"/>
              <a:t>linking</a:t>
            </a:r>
            <a:r>
              <a:rPr lang="el-GR" sz="3600" dirty="0"/>
              <a:t> των αρχείων ώστε να μην μπορεί να μεταβάλλει την εσωτερική υλοποίηση.  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607529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D8D7-0EF7-5609-19EB-E63FE548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Υλοποίηση συναρτήσεων βιβλιοθήκης</a:t>
            </a:r>
            <a:endParaRPr lang="en-GR" dirty="0"/>
          </a:p>
        </p:txBody>
      </p:sp>
      <p:pic>
        <p:nvPicPr>
          <p:cNvPr id="5" name="Content Placeholder 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0481E625-6B14-0A61-CC69-B33160E91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431380"/>
            <a:ext cx="5715000" cy="2362200"/>
          </a:xfr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130EEEE-8608-97C5-5523-5E2D62424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051" y="1431380"/>
            <a:ext cx="5109949" cy="477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3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7EC4-5346-DE38-3BF5-51175924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Συνέχεια</a:t>
            </a:r>
            <a:endParaRPr lang="en-GR" dirty="0"/>
          </a:p>
        </p:txBody>
      </p:sp>
      <p:pic>
        <p:nvPicPr>
          <p:cNvPr id="5" name="Content Placeholder 4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6A13348D-0D88-90BD-957B-E295CA2C4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60" y="1690688"/>
            <a:ext cx="6807200" cy="2832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128C8D-CA00-CDF9-9D95-23AC02235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286" y="1690688"/>
            <a:ext cx="5008254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58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36987"/>
            <a:ext cx="8229600" cy="659427"/>
          </a:xfrm>
        </p:spPr>
        <p:txBody>
          <a:bodyPr>
            <a:normAutofit fontScale="90000"/>
          </a:bodyPr>
          <a:lstStyle/>
          <a:p>
            <a:pPr algn="ctr"/>
            <a:r>
              <a:rPr dirty="0" err="1"/>
              <a:t>Περιγρ</a:t>
            </a:r>
            <a:r>
              <a:rPr dirty="0"/>
              <a:t>αφή </a:t>
            </a:r>
            <a:r>
              <a:rPr lang="el-GR" dirty="0"/>
              <a:t>προβλήματος 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5497" y="934065"/>
            <a:ext cx="7388942" cy="33528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l-GR" dirty="0"/>
              <a:t>Ο χρήστης παρέχει μέσω των </a:t>
            </a:r>
            <a:r>
              <a:rPr lang="en-GB" dirty="0"/>
              <a:t>arguments (</a:t>
            </a:r>
            <a:r>
              <a:rPr lang="el-GR" dirty="0"/>
              <a:t>Ν = </a:t>
            </a:r>
            <a:r>
              <a:rPr lang="en-GB" dirty="0" err="1"/>
              <a:t>argv</a:t>
            </a:r>
            <a:r>
              <a:rPr lang="en-GB" dirty="0"/>
              <a:t>[1]), </a:t>
            </a:r>
            <a:r>
              <a:rPr lang="el-GR" dirty="0"/>
              <a:t>τον</a:t>
            </a:r>
            <a:r>
              <a:rPr lang="en-US" dirty="0"/>
              <a:t> </a:t>
            </a:r>
            <a:r>
              <a:rPr lang="el-GR" dirty="0"/>
              <a:t>αριθμό </a:t>
            </a:r>
            <a:r>
              <a:rPr lang="el-GR" dirty="0" err="1"/>
              <a:t>τών</a:t>
            </a:r>
            <a:r>
              <a:rPr lang="el-GR" dirty="0"/>
              <a:t> </a:t>
            </a:r>
            <a:r>
              <a:rPr lang="en-GB" dirty="0"/>
              <a:t>slaves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Εμείς δημιουργούμε</a:t>
            </a:r>
            <a:r>
              <a:rPr lang="en-GB" dirty="0"/>
              <a:t> </a:t>
            </a:r>
            <a:r>
              <a:rPr lang="el-GR" dirty="0"/>
              <a:t>μέσω της </a:t>
            </a:r>
            <a:r>
              <a:rPr lang="en-GB" dirty="0"/>
              <a:t>main </a:t>
            </a:r>
            <a:r>
              <a:rPr lang="el-GR" dirty="0"/>
              <a:t>συνάρτησης</a:t>
            </a:r>
            <a:r>
              <a:rPr lang="en-GB" dirty="0"/>
              <a:t> (main thread)</a:t>
            </a:r>
            <a:r>
              <a:rPr lang="el-GR" dirty="0"/>
              <a:t> </a:t>
            </a:r>
            <a:r>
              <a:rPr lang="en-GB" dirty="0" err="1"/>
              <a:t>pthread_create</a:t>
            </a:r>
            <a:r>
              <a:rPr lang="en-GB" dirty="0"/>
              <a:t>(&amp;</a:t>
            </a:r>
            <a:r>
              <a:rPr lang="en-GB" dirty="0" err="1"/>
              <a:t>thr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], NULL, routine, </a:t>
            </a:r>
            <a:r>
              <a:rPr lang="en-GB" dirty="0" err="1"/>
              <a:t>thread_id</a:t>
            </a:r>
            <a:r>
              <a:rPr lang="en-GB" dirty="0"/>
              <a:t>)</a:t>
            </a:r>
            <a:r>
              <a:rPr lang="el-GR" dirty="0"/>
              <a:t>,</a:t>
            </a:r>
            <a:r>
              <a:rPr lang="en-GB" dirty="0"/>
              <a:t>N </a:t>
            </a:r>
            <a:r>
              <a:rPr lang="el-GR" dirty="0"/>
              <a:t>αριθμό από </a:t>
            </a:r>
            <a:r>
              <a:rPr lang="en-GB" dirty="0"/>
              <a:t>threads</a:t>
            </a:r>
            <a:r>
              <a:rPr lang="el-GR" dirty="0"/>
              <a:t>,</a:t>
            </a:r>
            <a:r>
              <a:rPr lang="en-GB" dirty="0"/>
              <a:t> </a:t>
            </a:r>
            <a:r>
              <a:rPr lang="el-GR" dirty="0"/>
              <a:t>που κάθε ένα</a:t>
            </a:r>
            <a:r>
              <a:rPr lang="en-US" dirty="0"/>
              <a:t> </a:t>
            </a:r>
            <a:r>
              <a:rPr lang="el-GR" dirty="0"/>
              <a:t>αντιστοιχεί σε έναν </a:t>
            </a:r>
            <a:r>
              <a:rPr lang="en-GB" dirty="0"/>
              <a:t>slave.</a:t>
            </a:r>
          </a:p>
          <a:p>
            <a:pPr marL="0" indent="0">
              <a:buNone/>
            </a:pPr>
            <a:r>
              <a:rPr lang="el-GR" dirty="0"/>
              <a:t>Κάθε </a:t>
            </a:r>
            <a:r>
              <a:rPr lang="en-GB" dirty="0"/>
              <a:t>thread </a:t>
            </a:r>
            <a:r>
              <a:rPr lang="el-GR" dirty="0"/>
              <a:t>κάνει τη δουλειά του μέσω της</a:t>
            </a:r>
            <a:r>
              <a:rPr lang="en-US" dirty="0"/>
              <a:t> </a:t>
            </a:r>
            <a:r>
              <a:rPr lang="el-GR" dirty="0"/>
              <a:t>συνάρτησης</a:t>
            </a:r>
            <a:r>
              <a:rPr lang="en-GB" dirty="0"/>
              <a:t> routine(void *</a:t>
            </a:r>
            <a:r>
              <a:rPr lang="en-GB" dirty="0" err="1"/>
              <a:t>arg</a:t>
            </a:r>
            <a:r>
              <a:rPr lang="en-GB" dirty="0"/>
              <a:t>)</a:t>
            </a:r>
            <a:r>
              <a:rPr lang="el-GR" dirty="0"/>
              <a:t> και επικοινωνεί με το</a:t>
            </a:r>
            <a:r>
              <a:rPr lang="en-US" dirty="0"/>
              <a:t> </a:t>
            </a:r>
            <a:r>
              <a:rPr lang="en-GB" dirty="0"/>
              <a:t>main thread </a:t>
            </a:r>
            <a:r>
              <a:rPr lang="el-GR" dirty="0"/>
              <a:t>(</a:t>
            </a:r>
            <a:r>
              <a:rPr lang="en-GB" dirty="0"/>
              <a:t>worker thread) </a:t>
            </a:r>
            <a:r>
              <a:rPr lang="el-GR" dirty="0"/>
              <a:t>μέσω των μεταβλητών </a:t>
            </a:r>
            <a:r>
              <a:rPr lang="en-GB" dirty="0"/>
              <a:t>interconnection[N]</a:t>
            </a:r>
            <a:r>
              <a:rPr lang="el-GR" dirty="0"/>
              <a:t>,</a:t>
            </a:r>
            <a:r>
              <a:rPr lang="en-US" dirty="0"/>
              <a:t> </a:t>
            </a:r>
            <a:r>
              <a:rPr lang="en-GB" dirty="0" err="1"/>
              <a:t>work_num</a:t>
            </a:r>
            <a:r>
              <a:rPr lang="en-GB" dirty="0"/>
              <a:t>[N] </a:t>
            </a:r>
            <a:r>
              <a:rPr lang="el-GR" dirty="0"/>
              <a:t>και </a:t>
            </a:r>
            <a:r>
              <a:rPr lang="en-GB" dirty="0" err="1"/>
              <a:t>thread_id</a:t>
            </a:r>
            <a:r>
              <a:rPr lang="el-GR" dirty="0"/>
              <a:t>.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FDEFC-FB10-0899-71ED-57438D0F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543" y="4286865"/>
            <a:ext cx="6458851" cy="2296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14F1-9A53-92C9-74F1-8E5E213C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77414"/>
          </a:xfrm>
        </p:spPr>
        <p:txBody>
          <a:bodyPr/>
          <a:lstStyle/>
          <a:p>
            <a:pPr algn="ctr"/>
            <a:r>
              <a:rPr lang="el-GR" dirty="0"/>
              <a:t>Περιγραφή μεταβλητών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1114-D045-72CA-388E-0B792F51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52052"/>
            <a:ext cx="8229600" cy="58059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Κάθε </a:t>
            </a:r>
            <a:r>
              <a:rPr lang="en-GB" dirty="0"/>
              <a:t>thread </a:t>
            </a:r>
            <a:r>
              <a:rPr lang="el-GR" dirty="0"/>
              <a:t>επικοινωνεί με το</a:t>
            </a:r>
            <a:r>
              <a:rPr lang="en-GB" dirty="0"/>
              <a:t> main thread </a:t>
            </a:r>
            <a:r>
              <a:rPr lang="el-GR" dirty="0"/>
              <a:t>μέσω του </a:t>
            </a:r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 err="1"/>
              <a:t>thread_id</a:t>
            </a:r>
            <a:r>
              <a:rPr lang="en-GB" dirty="0"/>
              <a:t> </a:t>
            </a:r>
            <a:r>
              <a:rPr lang="el-GR" dirty="0"/>
              <a:t>κελιού των παρακάτω μεταβλητών (οι μεταβλητές είναι </a:t>
            </a:r>
            <a:r>
              <a:rPr lang="en-GB" dirty="0"/>
              <a:t>global</a:t>
            </a:r>
            <a:r>
              <a:rPr lang="el-GR" dirty="0"/>
              <a:t> και έχει κοινή πρόσβαση στη μνήμη της ο </a:t>
            </a:r>
            <a:r>
              <a:rPr lang="en-GB" dirty="0"/>
              <a:t>master </a:t>
            </a:r>
            <a:r>
              <a:rPr lang="el-GR" dirty="0"/>
              <a:t>από τη </a:t>
            </a:r>
            <a:r>
              <a:rPr lang="en-GB" dirty="0"/>
              <a:t>main):</a:t>
            </a:r>
          </a:p>
          <a:p>
            <a:pPr marL="0" indent="0">
              <a:buNone/>
            </a:pPr>
            <a:r>
              <a:rPr lang="en-GB" dirty="0"/>
              <a:t>interconnection[i]:</a:t>
            </a:r>
            <a:r>
              <a:rPr lang="el-GR" dirty="0"/>
              <a:t> Δείχνει αν ο </a:t>
            </a:r>
            <a:r>
              <a:rPr lang="en-GB" dirty="0"/>
              <a:t>worker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l-GR" dirty="0"/>
              <a:t>δουλεύει</a:t>
            </a:r>
            <a:r>
              <a:rPr lang="en-US" dirty="0"/>
              <a:t> </a:t>
            </a:r>
            <a:r>
              <a:rPr lang="el-GR" dirty="0"/>
              <a:t>αυτή τη στιγμή.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l-GR" dirty="0"/>
              <a:t>1</a:t>
            </a:r>
            <a:r>
              <a:rPr lang="en-GB" dirty="0"/>
              <a:t>:</a:t>
            </a:r>
            <a:r>
              <a:rPr lang="el-GR" dirty="0"/>
              <a:t> για ελεύθερους </a:t>
            </a:r>
            <a:r>
              <a:rPr lang="en-GB" dirty="0"/>
              <a:t>workers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l-GR" dirty="0"/>
              <a:t>0</a:t>
            </a:r>
            <a:r>
              <a:rPr lang="en-GB" dirty="0"/>
              <a:t>:</a:t>
            </a:r>
            <a:r>
              <a:rPr lang="el-GR" dirty="0"/>
              <a:t> για </a:t>
            </a:r>
            <a:r>
              <a:rPr lang="en-GB" dirty="0"/>
              <a:t>workers </a:t>
            </a:r>
            <a:r>
              <a:rPr lang="el-GR" dirty="0"/>
              <a:t>που τρέχουν ακόμα την </a:t>
            </a:r>
            <a:r>
              <a:rPr lang="en-GB" dirty="0" err="1"/>
              <a:t>is_prime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l-GR" dirty="0"/>
              <a:t> </a:t>
            </a:r>
            <a:r>
              <a:rPr lang="en-GB" dirty="0" err="1"/>
              <a:t>work_num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]:</a:t>
            </a:r>
            <a:r>
              <a:rPr lang="el-GR" dirty="0"/>
              <a:t>Είναι ο αριθμός που περνάει το </a:t>
            </a:r>
            <a:r>
              <a:rPr lang="en-GB" dirty="0"/>
              <a:t>main thread </a:t>
            </a:r>
            <a:r>
              <a:rPr lang="el-GR" dirty="0"/>
              <a:t>στον</a:t>
            </a:r>
            <a:r>
              <a:rPr lang="en-US" dirty="0"/>
              <a:t> worker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l-GR" dirty="0"/>
              <a:t>για να μπει στην </a:t>
            </a:r>
            <a:r>
              <a:rPr lang="en-GB" dirty="0" err="1"/>
              <a:t>is_prime</a:t>
            </a:r>
            <a:r>
              <a:rPr lang="en-GB" dirty="0"/>
              <a:t>()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079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DDA1-2516-D655-9CED-74EA4E7D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Runtime </a:t>
            </a:r>
            <a:r>
              <a:rPr lang="el-GR" dirty="0"/>
              <a:t>και τερματισμός του προγράμματος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0252E-FDF7-F1E1-780B-BD5366315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		Master:									Slave:</a:t>
            </a:r>
          </a:p>
          <a:p>
            <a:pPr marL="0" indent="0">
              <a:buNone/>
            </a:pPr>
            <a:r>
              <a:rPr lang="en-GB" dirty="0"/>
              <a:t>							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99BA9-2817-914C-6F70-7A5E0533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32" y="2183825"/>
            <a:ext cx="4114724" cy="4124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338106-0F51-BB2F-24C8-8799C86C6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46" y="2183825"/>
            <a:ext cx="411472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8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9ED2-1C23-6B3C-0519-027F37CB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536" y="270056"/>
            <a:ext cx="8229600" cy="590601"/>
          </a:xfrm>
        </p:spPr>
        <p:txBody>
          <a:bodyPr>
            <a:normAutofit fontScale="90000"/>
          </a:bodyPr>
          <a:lstStyle/>
          <a:p>
            <a:pPr algn="ctr"/>
            <a:r>
              <a:rPr lang="el-GR" dirty="0"/>
              <a:t>Ανάλυση Απόδοσης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05972-AC1A-B27E-9207-9B64BAA3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594" y="1042220"/>
            <a:ext cx="3696930" cy="491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 err="1"/>
              <a:t>Input.bin</a:t>
            </a:r>
            <a:r>
              <a:rPr lang="en-GB" sz="2000" dirty="0"/>
              <a:t> with large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9F5EE-0A5C-2B5A-A196-FFE46012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623891"/>
            <a:ext cx="4336026" cy="3333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2B642-6F9F-19B2-B605-28B2B956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36" y="1623891"/>
            <a:ext cx="4793348" cy="34216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E0101E-A78D-8506-8AE1-0F272BD3BD8B}"/>
              </a:ext>
            </a:extLst>
          </p:cNvPr>
          <p:cNvSpPr txBox="1"/>
          <p:nvPr/>
        </p:nvSpPr>
        <p:spPr>
          <a:xfrm>
            <a:off x="6440251" y="5135576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Αύξηση του Ν =&gt; αύξηση του </a:t>
            </a:r>
            <a:r>
              <a:rPr lang="en-GB" dirty="0"/>
              <a:t>time</a:t>
            </a:r>
          </a:p>
          <a:p>
            <a:r>
              <a:rPr lang="el-GR" dirty="0" err="1"/>
              <a:t>λογω</a:t>
            </a:r>
            <a:r>
              <a:rPr lang="el-GR" dirty="0"/>
              <a:t> της αύξησης των </a:t>
            </a:r>
            <a:r>
              <a:rPr lang="en-GB" dirty="0"/>
              <a:t>threads </a:t>
            </a:r>
            <a:r>
              <a:rPr lang="el-GR" dirty="0"/>
              <a:t>που κάνουν </a:t>
            </a:r>
            <a:r>
              <a:rPr lang="en-GB" dirty="0"/>
              <a:t>busy waiting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40E88-72D4-B8CA-637E-E7D50A753A8E}"/>
              </a:ext>
            </a:extLst>
          </p:cNvPr>
          <p:cNvSpPr txBox="1"/>
          <p:nvPr/>
        </p:nvSpPr>
        <p:spPr>
          <a:xfrm>
            <a:off x="1907458" y="5135577"/>
            <a:ext cx="40213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Αρχικά μείωση</a:t>
            </a:r>
            <a:r>
              <a:rPr lang="en-GB" dirty="0"/>
              <a:t> time :</a:t>
            </a:r>
            <a:r>
              <a:rPr lang="el-GR" dirty="0"/>
              <a:t>Το ακριβό </a:t>
            </a:r>
            <a:r>
              <a:rPr lang="en-GB" dirty="0"/>
              <a:t>computation </a:t>
            </a:r>
            <a:r>
              <a:rPr lang="el-GR" dirty="0"/>
              <a:t>των μεγάλων αριθμών μοιράζεται σε πολλά </a:t>
            </a:r>
            <a:r>
              <a:rPr lang="en-GB" dirty="0"/>
              <a:t>threads,</a:t>
            </a:r>
          </a:p>
          <a:p>
            <a:r>
              <a:rPr lang="el-GR" dirty="0"/>
              <a:t>Τελικά</a:t>
            </a:r>
            <a:r>
              <a:rPr lang="en-GB" dirty="0"/>
              <a:t>:</a:t>
            </a:r>
            <a:r>
              <a:rPr lang="el-GR" dirty="0"/>
              <a:t>Η μεγάλη αύξηση των </a:t>
            </a:r>
            <a:r>
              <a:rPr lang="en-GB" dirty="0"/>
              <a:t>threads</a:t>
            </a:r>
          </a:p>
          <a:p>
            <a:r>
              <a:rPr lang="en-GB" dirty="0"/>
              <a:t> =&gt; </a:t>
            </a:r>
            <a:r>
              <a:rPr lang="el-GR" dirty="0"/>
              <a:t>αύξηση </a:t>
            </a:r>
            <a:r>
              <a:rPr lang="en-GB" dirty="0"/>
              <a:t>time </a:t>
            </a:r>
            <a:r>
              <a:rPr lang="el-GR" dirty="0"/>
              <a:t>λόγω </a:t>
            </a:r>
            <a:r>
              <a:rPr lang="en-GB" dirty="0"/>
              <a:t>busy waiting </a:t>
            </a:r>
            <a:r>
              <a:rPr lang="el-GR" dirty="0"/>
              <a:t>κάποιων </a:t>
            </a:r>
            <a:r>
              <a:rPr lang="en-GB" dirty="0"/>
              <a:t>threads</a:t>
            </a:r>
          </a:p>
          <a:p>
            <a:r>
              <a:rPr lang="en-GB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23C0A-1BE5-1B51-0F21-448011A780F3}"/>
              </a:ext>
            </a:extLst>
          </p:cNvPr>
          <p:cNvSpPr txBox="1"/>
          <p:nvPr/>
        </p:nvSpPr>
        <p:spPr>
          <a:xfrm>
            <a:off x="6302477" y="1042219"/>
            <a:ext cx="3834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/>
              <a:t>Input.bin</a:t>
            </a:r>
            <a:r>
              <a:rPr lang="en-GB" sz="2000" dirty="0"/>
              <a:t> with smaller numbers</a:t>
            </a:r>
          </a:p>
        </p:txBody>
      </p:sp>
    </p:spTree>
    <p:extLst>
      <p:ext uri="{BB962C8B-B14F-4D97-AF65-F5344CB8AC3E}">
        <p14:creationId xmlns:p14="http://schemas.microsoft.com/office/powerpoint/2010/main" val="364733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BAD6-6B9D-EC01-2450-388617FD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Περιγραφή προβλήματος 3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DAEA5-9E32-81A9-8F14-30D8017BE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l-GR" dirty="0"/>
              <a:t>Το πρόγραμμα ταξινομεί αριθμούς από ένα δυαδικό αρχείο (.</a:t>
            </a:r>
            <a:r>
              <a:rPr lang="en-GB" dirty="0"/>
              <a:t>bin) </a:t>
            </a:r>
            <a:r>
              <a:rPr lang="el-GR" dirty="0"/>
              <a:t>που δίνει ο χρήστης, χρησιμοποιώντας </a:t>
            </a:r>
            <a:r>
              <a:rPr lang="en-GB" dirty="0"/>
              <a:t>threads </a:t>
            </a:r>
            <a:r>
              <a:rPr lang="el-GR" dirty="0"/>
              <a:t>και </a:t>
            </a:r>
            <a:r>
              <a:rPr lang="en-GB" dirty="0" err="1"/>
              <a:t>mergesort</a:t>
            </a:r>
            <a:r>
              <a:rPr lang="en-GB" dirty="0"/>
              <a:t>. </a:t>
            </a:r>
            <a:r>
              <a:rPr lang="el-GR" dirty="0"/>
              <a:t>Κάθε </a:t>
            </a:r>
            <a:r>
              <a:rPr lang="en-GB" dirty="0"/>
              <a:t>thread </a:t>
            </a:r>
            <a:r>
              <a:rPr lang="el-GR" dirty="0"/>
              <a:t>χωρίζει τα δεδομένα σε δύο ίσα μέρη και δημιουργεί δύο νέα </a:t>
            </a:r>
            <a:r>
              <a:rPr lang="en-GB" dirty="0"/>
              <a:t>threads </a:t>
            </a:r>
            <a:r>
              <a:rPr lang="el-GR" dirty="0"/>
              <a:t>για την ταξινόμηση των </a:t>
            </a:r>
            <a:r>
              <a:rPr lang="el-GR" dirty="0" err="1"/>
              <a:t>υποτμημάτων</a:t>
            </a:r>
            <a:r>
              <a:rPr lang="el-GR" dirty="0"/>
              <a:t>. Αφού τα </a:t>
            </a:r>
            <a:r>
              <a:rPr lang="en-GB" dirty="0"/>
              <a:t>threads </a:t>
            </a:r>
            <a:r>
              <a:rPr lang="el-GR" dirty="0"/>
              <a:t>ολοκληρώσουν την ταξινόμησή τους, γίνεται συγχώνευση των δύο τμημάτων.</a:t>
            </a:r>
          </a:p>
          <a:p>
            <a:r>
              <a:rPr lang="el-GR" dirty="0"/>
              <a:t>Αν ένα </a:t>
            </a:r>
            <a:r>
              <a:rPr lang="en-GB" dirty="0"/>
              <a:t>thread </a:t>
            </a:r>
            <a:r>
              <a:rPr lang="el-GR" dirty="0"/>
              <a:t>έχει 64 ή λιγότερα στοιχεία, τότε χρησιμοποιεί </a:t>
            </a:r>
            <a:r>
              <a:rPr lang="en-GB" dirty="0"/>
              <a:t>insertion sort, </a:t>
            </a:r>
            <a:r>
              <a:rPr lang="el-GR" dirty="0"/>
              <a:t>ο οποίος είναι πιο αποδοτικός για λίγους αριθμούς. Τόσο ο </a:t>
            </a:r>
            <a:r>
              <a:rPr lang="en-GB" dirty="0"/>
              <a:t>insertion sort </a:t>
            </a:r>
            <a:r>
              <a:rPr lang="el-GR" dirty="0"/>
              <a:t>όσο και η συγχώνευση έχουν τροποποιηθεί ώστε να μην χρησιμοποιούνται βοηθητικοί πίνακες ή προσωρινά αρχεία, και να γίνονται απευθείας στο αρχείο. Έτσι αποφεύγουμε τυχών υπερφόρτωση της </a:t>
            </a:r>
            <a:r>
              <a:rPr lang="el-GR" dirty="0" err="1"/>
              <a:t>μν</a:t>
            </a:r>
            <a:r>
              <a:rPr lang="en-US" dirty="0" err="1"/>
              <a:t>ή</a:t>
            </a:r>
            <a:r>
              <a:rPr lang="el-GR" dirty="0" err="1"/>
              <a:t>μης</a:t>
            </a:r>
            <a:r>
              <a:rPr lang="el-GR" dirty="0"/>
              <a:t> σε περίπτωση πολύ μεγάλου αρχείου.</a:t>
            </a:r>
            <a:endParaRPr lang="en-US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96504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1B08-1E54-FDD9-C1FD-8482D5F1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Περιγραφή επικοινωνίας και συγχρονισμού </a:t>
            </a:r>
            <a:r>
              <a:rPr lang="en-US" dirty="0"/>
              <a:t>threads</a:t>
            </a:r>
            <a:r>
              <a:rPr lang="el-GR" dirty="0"/>
              <a:t> 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D58E-36B8-8A2B-76FD-BA77905C863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el-GR" dirty="0"/>
              <a:t>Κάθε </a:t>
            </a:r>
            <a:r>
              <a:rPr lang="en-GB" dirty="0"/>
              <a:t>thread </a:t>
            </a:r>
            <a:r>
              <a:rPr lang="el-GR" dirty="0"/>
              <a:t>εκτελεί τη ρουτίνα του χρησιμοποιώντας ως </a:t>
            </a:r>
            <a:r>
              <a:rPr lang="en-GB" dirty="0"/>
              <a:t>argument </a:t>
            </a:r>
            <a:r>
              <a:rPr lang="el-GR" dirty="0"/>
              <a:t>ένα </a:t>
            </a:r>
            <a:r>
              <a:rPr lang="en-GB" dirty="0"/>
              <a:t>struct, </a:t>
            </a:r>
            <a:r>
              <a:rPr lang="el-GR" dirty="0"/>
              <a:t>το οποίο περιέχει την αρχή και το τέλος των </a:t>
            </a:r>
            <a:r>
              <a:rPr lang="en-GB" dirty="0"/>
              <a:t>bytes </a:t>
            </a:r>
            <a:r>
              <a:rPr lang="el-GR" dirty="0"/>
              <a:t>του αρχείου όπου μπορεί να κάνει αλλαγές (το τμήμα των αριθμών που πρέπει να ταξινομήσει) και ένα </a:t>
            </a:r>
            <a:r>
              <a:rPr lang="en-GB" dirty="0"/>
              <a:t>flag </a:t>
            </a:r>
            <a:r>
              <a:rPr lang="el-GR" dirty="0"/>
              <a:t>που ενημερώνει τον "γονιό" </a:t>
            </a:r>
            <a:r>
              <a:rPr lang="en-GB" dirty="0"/>
              <a:t>thread </a:t>
            </a:r>
            <a:r>
              <a:rPr lang="el-GR" dirty="0"/>
              <a:t>αν έχει ολοκληρωθεί η ταξινόμηση. Έτσι, κάθε </a:t>
            </a:r>
            <a:r>
              <a:rPr lang="en-GB" dirty="0"/>
              <a:t>thread </a:t>
            </a:r>
            <a:r>
              <a:rPr lang="el-GR" dirty="0"/>
              <a:t>επικοινωνεί με τα "παιδιά" του και τον "γονιό" του.</a:t>
            </a:r>
          </a:p>
          <a:p>
            <a:pPr marL="3657600" lvl="8" indent="0" algn="just">
              <a:buNone/>
            </a:pPr>
            <a:r>
              <a:rPr lang="en-GB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typedef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GB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struct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{</a:t>
            </a:r>
          </a:p>
          <a:p>
            <a:pPr marL="3657600" lvl="8" indent="0" algn="just">
              <a:buNone/>
            </a:pPr>
            <a:r>
              <a:rPr lang="el-GR" sz="1500" dirty="0">
                <a:solidFill>
                  <a:srgbClr val="569CD6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   </a:t>
            </a:r>
            <a:r>
              <a:rPr lang="en-GB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int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GB" sz="15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start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;</a:t>
            </a:r>
          </a:p>
          <a:p>
            <a:pPr marL="3657600" lvl="8" indent="0" algn="just">
              <a:buNone/>
            </a:pPr>
            <a:r>
              <a:rPr lang="el-GR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   </a:t>
            </a:r>
            <a:r>
              <a:rPr lang="en-GB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int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GB" sz="15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end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;</a:t>
            </a:r>
          </a:p>
          <a:p>
            <a:pPr marL="3657600" lvl="8" indent="0" algn="just">
              <a:buNone/>
            </a:pPr>
            <a:r>
              <a:rPr lang="el-GR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   </a:t>
            </a:r>
            <a:r>
              <a:rPr lang="en-GB" sz="1500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int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GB" sz="15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thread_done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; </a:t>
            </a:r>
          </a:p>
          <a:p>
            <a:pPr marL="3657600" lvl="8" indent="0" algn="just">
              <a:buNone/>
            </a:pP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} </a:t>
            </a:r>
            <a:r>
              <a:rPr lang="en-GB" sz="15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thread_data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;</a:t>
            </a:r>
          </a:p>
          <a:p>
            <a:pPr lvl="3"/>
            <a:endParaRPr lang="el-GR" dirty="0"/>
          </a:p>
          <a:p>
            <a:r>
              <a:rPr lang="el-GR" dirty="0"/>
              <a:t>Η </a:t>
            </a:r>
            <a:r>
              <a:rPr lang="en-GB" dirty="0"/>
              <a:t>main </a:t>
            </a:r>
            <a:r>
              <a:rPr lang="el-GR" dirty="0"/>
              <a:t>δημιουργεί ένα </a:t>
            </a:r>
            <a:r>
              <a:rPr lang="en-GB" dirty="0"/>
              <a:t>thread </a:t>
            </a:r>
            <a:r>
              <a:rPr lang="el-GR" dirty="0"/>
              <a:t>που αναλαμβάνει την ταξινόμηση όλου του αρχείου, ξεκινώντας την αναδρομή και επικοινωνεί μαζί του με τον ίδιο τρόπο. Όλα τα </a:t>
            </a:r>
            <a:r>
              <a:rPr lang="en-GB" dirty="0"/>
              <a:t>threads, </a:t>
            </a:r>
            <a:r>
              <a:rPr lang="el-GR" dirty="0"/>
              <a:t>όπως και η </a:t>
            </a:r>
            <a:r>
              <a:rPr lang="en-GB" dirty="0"/>
              <a:t>main</a:t>
            </a:r>
            <a:r>
              <a:rPr lang="el-GR" dirty="0"/>
              <a:t>, εκτελούν ενεργή αναμονή σε </a:t>
            </a:r>
            <a:r>
              <a:rPr lang="en-US" dirty="0"/>
              <a:t>spin loop</a:t>
            </a:r>
            <a:r>
              <a:rPr lang="el-GR" dirty="0"/>
              <a:t> ελέγχοντας την τιμή του </a:t>
            </a:r>
            <a:r>
              <a:rPr lang="en-US" dirty="0"/>
              <a:t>flag</a:t>
            </a:r>
            <a:r>
              <a:rPr lang="el-GR" dirty="0"/>
              <a:t> των "παιδιών" τους.</a:t>
            </a:r>
          </a:p>
          <a:p>
            <a:pPr marL="1828800" lvl="4" indent="0">
              <a:buNone/>
            </a:pPr>
            <a:r>
              <a:rPr lang="en-GB" sz="15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while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GB" sz="15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!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GB" sz="15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thread_data1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-&gt;</a:t>
            </a:r>
            <a:r>
              <a:rPr lang="en-GB" sz="15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thread_done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 </a:t>
            </a:r>
            <a:r>
              <a:rPr lang="en-GB" sz="15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||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GB" sz="15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!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GB" sz="15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thread_data2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-&gt;</a:t>
            </a:r>
            <a:r>
              <a:rPr lang="en-GB" sz="15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thread_done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))</a:t>
            </a:r>
          </a:p>
          <a:p>
            <a:pPr marL="1828800" lvl="4" indent="0">
              <a:buNone/>
            </a:pPr>
            <a:r>
              <a:rPr lang="el-GR" sz="15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   </a:t>
            </a:r>
            <a:r>
              <a:rPr lang="en-GB" sz="15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continue</a:t>
            </a:r>
            <a:r>
              <a:rPr lang="en-GB" sz="1500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07552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8840-5A7D-AEC2-F9A5-39254D2F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Τροποποίηση αλγορίθμων ταξινόμησης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38F8D-30AA-0B94-F3F8-64B337AFD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l-GR" dirty="0"/>
              <a:t>Και οι δύο αλγόριθμοι καλούνται με ορίσματα την μεταβλητή τύπου </a:t>
            </a:r>
            <a:br>
              <a:rPr lang="el-GR" dirty="0"/>
            </a:br>
            <a:r>
              <a:rPr lang="el-GR" dirty="0"/>
              <a:t>*</a:t>
            </a:r>
            <a:r>
              <a:rPr lang="en-US" dirty="0"/>
              <a:t>FILE </a:t>
            </a:r>
            <a:r>
              <a:rPr lang="el-GR" dirty="0"/>
              <a:t>και δύο </a:t>
            </a:r>
            <a:r>
              <a:rPr lang="en-US" dirty="0"/>
              <a:t>integers start </a:t>
            </a:r>
            <a:r>
              <a:rPr lang="el-GR" dirty="0"/>
              <a:t>και </a:t>
            </a:r>
            <a:r>
              <a:rPr lang="en-US" dirty="0"/>
              <a:t>end </a:t>
            </a:r>
            <a:r>
              <a:rPr lang="el-GR" dirty="0"/>
              <a:t>οι οποίοι δηλώνουν το </a:t>
            </a:r>
            <a:r>
              <a:rPr lang="en-US" dirty="0"/>
              <a:t>index </a:t>
            </a:r>
            <a:r>
              <a:rPr lang="el-GR" dirty="0"/>
              <a:t>(στο αρχείο) του αρχικού και τερματικού στοιχείου που πρέπει να</a:t>
            </a:r>
            <a:r>
              <a:rPr lang="en-US" dirty="0"/>
              <a:t> </a:t>
            </a:r>
            <a:r>
              <a:rPr lang="el-GR" dirty="0"/>
              <a:t>ταξινομήσει αντίστοιχα. Το </a:t>
            </a:r>
            <a:r>
              <a:rPr lang="en-US" dirty="0"/>
              <a:t>sort </a:t>
            </a:r>
            <a:r>
              <a:rPr lang="el-GR" dirty="0"/>
              <a:t>γίνεται από </a:t>
            </a:r>
            <a:r>
              <a:rPr lang="en-US" dirty="0"/>
              <a:t>start </a:t>
            </a:r>
            <a:r>
              <a:rPr lang="el-GR" dirty="0"/>
              <a:t>μέχρι </a:t>
            </a:r>
            <a:r>
              <a:rPr lang="en-US" dirty="0"/>
              <a:t>end</a:t>
            </a:r>
            <a:r>
              <a:rPr lang="el-GR" dirty="0"/>
              <a:t> </a:t>
            </a:r>
            <a:r>
              <a:rPr lang="en-US" dirty="0"/>
              <a:t>– 1. </a:t>
            </a:r>
            <a:endParaRPr lang="el-GR" dirty="0"/>
          </a:p>
          <a:p>
            <a:r>
              <a:rPr lang="el-GR" dirty="0"/>
              <a:t>Στον </a:t>
            </a:r>
            <a:r>
              <a:rPr lang="en-US" dirty="0"/>
              <a:t>insertion sort </a:t>
            </a:r>
            <a:r>
              <a:rPr lang="el-GR" dirty="0"/>
              <a:t>οι συγκρίσεις δεν γίνονται μέχρι </a:t>
            </a:r>
            <a:r>
              <a:rPr lang="en-US" dirty="0"/>
              <a:t>index=0 </a:t>
            </a:r>
            <a:r>
              <a:rPr lang="el-GR" dirty="0"/>
              <a:t>αλλά μέχρι </a:t>
            </a:r>
            <a:r>
              <a:rPr lang="en-US" dirty="0"/>
              <a:t>index</a:t>
            </a:r>
            <a:r>
              <a:rPr lang="el-GR" dirty="0"/>
              <a:t>=</a:t>
            </a:r>
            <a:r>
              <a:rPr lang="en-US" dirty="0"/>
              <a:t>start</a:t>
            </a:r>
            <a:r>
              <a:rPr lang="el-GR" dirty="0"/>
              <a:t> προκειμένου να μην κάνουμε σύγκριση με προηγούμενα στοιχεία εκτός των δοθέντων ορίων.</a:t>
            </a:r>
            <a:r>
              <a:rPr lang="en-US" dirty="0"/>
              <a:t> </a:t>
            </a:r>
            <a:endParaRPr lang="el-GR" dirty="0"/>
          </a:p>
          <a:p>
            <a:pPr marL="457200" lvl="1" indent="0">
              <a:buNone/>
            </a:pPr>
            <a:r>
              <a:rPr lang="el-GR" dirty="0"/>
              <a:t>	</a:t>
            </a:r>
          </a:p>
          <a:p>
            <a:r>
              <a:rPr lang="el-GR" dirty="0"/>
              <a:t>Στο </a:t>
            </a:r>
            <a:r>
              <a:rPr lang="en-US" dirty="0"/>
              <a:t>merge</a:t>
            </a:r>
            <a:r>
              <a:rPr lang="en-GB" dirty="0"/>
              <a:t>, </a:t>
            </a:r>
            <a:r>
              <a:rPr lang="el-GR" dirty="0"/>
              <a:t>επειδή η συγχώνευση γίνεται πάνω στο ίδιο αρχείο, όταν συγκρίνονται τα στοιχεία των δύο </a:t>
            </a:r>
            <a:r>
              <a:rPr lang="el-GR" dirty="0" err="1"/>
              <a:t>υποτμημάτων</a:t>
            </a:r>
            <a:r>
              <a:rPr lang="el-GR" dirty="0"/>
              <a:t>, αν το μικρότερο στοιχείο προέρχεται από τον δεξιό </a:t>
            </a:r>
            <a:r>
              <a:rPr lang="el-GR" dirty="0" err="1"/>
              <a:t>υποπίνακα</a:t>
            </a:r>
            <a:r>
              <a:rPr lang="el-GR" dirty="0"/>
              <a:t>, όλοι οι αριθμοί που βρίσκονται ανάμεσα στους "δείκτες" των δύο </a:t>
            </a:r>
            <a:r>
              <a:rPr lang="el-GR" dirty="0" err="1"/>
              <a:t>υποπινάκων</a:t>
            </a:r>
            <a:r>
              <a:rPr lang="el-GR" dirty="0"/>
              <a:t> (αταξινόμητος αριστερός </a:t>
            </a:r>
            <a:r>
              <a:rPr lang="el-GR" dirty="0" err="1"/>
              <a:t>υποπίνακας</a:t>
            </a:r>
            <a:r>
              <a:rPr lang="el-GR" dirty="0"/>
              <a:t>) κάνουν </a:t>
            </a:r>
            <a:r>
              <a:rPr lang="en-GB" dirty="0"/>
              <a:t>shift</a:t>
            </a:r>
            <a:r>
              <a:rPr lang="el-GR" dirty="0"/>
              <a:t> μία θέση προς τα δεξιά. Το στοιχείο από τον δεξιό </a:t>
            </a:r>
            <a:r>
              <a:rPr lang="el-GR" dirty="0" err="1"/>
              <a:t>υποπίνακα</a:t>
            </a:r>
            <a:r>
              <a:rPr lang="el-GR" dirty="0"/>
              <a:t> τοποθετείται στη θέση που απελευθερώνεται αριστερά. Στη συνέχεια αυξάνονται και οι δύο "δείκτες", καθώς τα στοιχεία του αριστερού </a:t>
            </a:r>
            <a:r>
              <a:rPr lang="el-GR" dirty="0" err="1"/>
              <a:t>υποπίνακα</a:t>
            </a:r>
            <a:r>
              <a:rPr lang="el-GR" dirty="0"/>
              <a:t> έχουν μετακινηθεί μία θέση δεξιά. Η συνθήκη τερματισμού για τον αριστερό δείκτη αλλάζει, λόγω του </a:t>
            </a:r>
            <a:r>
              <a:rPr lang="en-GB" dirty="0"/>
              <a:t>shift</a:t>
            </a:r>
            <a:r>
              <a:rPr lang="el-GR" dirty="0"/>
              <a:t>, από την αρχική συνθήκη </a:t>
            </a:r>
            <a:r>
              <a:rPr lang="en-GB" dirty="0" err="1"/>
              <a:t>i</a:t>
            </a:r>
            <a:r>
              <a:rPr lang="en-GB" dirty="0"/>
              <a:t> &lt; mid</a:t>
            </a:r>
            <a:r>
              <a:rPr lang="el-GR" dirty="0"/>
              <a:t> ή (</a:t>
            </a:r>
            <a:r>
              <a:rPr lang="en-US" dirty="0"/>
              <a:t> (</a:t>
            </a:r>
            <a:r>
              <a:rPr lang="en-US" dirty="0" err="1"/>
              <a:t>start+end</a:t>
            </a:r>
            <a:r>
              <a:rPr lang="en-US" dirty="0"/>
              <a:t>) / 2 )</a:t>
            </a:r>
            <a:r>
              <a:rPr lang="en-GB" dirty="0"/>
              <a:t> </a:t>
            </a:r>
            <a:r>
              <a:rPr lang="el-GR" dirty="0"/>
              <a:t>σε </a:t>
            </a:r>
            <a:r>
              <a:rPr lang="en-GB" dirty="0" err="1"/>
              <a:t>i</a:t>
            </a:r>
            <a:r>
              <a:rPr lang="en-GB" dirty="0"/>
              <a:t> &lt; j, </a:t>
            </a:r>
            <a:r>
              <a:rPr lang="el-GR" dirty="0"/>
              <a:t>όπου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l-GR" dirty="0"/>
              <a:t>και </a:t>
            </a:r>
            <a:r>
              <a:rPr lang="en-GB" dirty="0"/>
              <a:t>j </a:t>
            </a:r>
            <a:r>
              <a:rPr lang="el-GR" dirty="0"/>
              <a:t>είναι οι δείκτες των δύο </a:t>
            </a:r>
            <a:r>
              <a:rPr lang="el-GR" dirty="0" err="1"/>
              <a:t>υποπινάκων</a:t>
            </a:r>
            <a:r>
              <a:rPr lang="en-US" dirty="0"/>
              <a:t> </a:t>
            </a:r>
            <a:r>
              <a:rPr lang="el-GR" dirty="0"/>
              <a:t>καθώς ο δείκτης </a:t>
            </a:r>
            <a:r>
              <a:rPr lang="en-GB" dirty="0"/>
              <a:t>j </a:t>
            </a:r>
            <a:r>
              <a:rPr lang="el-GR" dirty="0"/>
              <a:t>ξεκινάει από το </a:t>
            </a:r>
            <a:r>
              <a:rPr lang="en-GB" dirty="0"/>
              <a:t>mid </a:t>
            </a:r>
            <a:r>
              <a:rPr lang="el-GR" dirty="0"/>
              <a:t>και κάθε φορά που αυξάνεται, τα αταξινόμητα στοιχεία του αριστερού </a:t>
            </a:r>
            <a:r>
              <a:rPr lang="el-GR" dirty="0" err="1"/>
              <a:t>υποπίνακα</a:t>
            </a:r>
            <a:r>
              <a:rPr lang="el-GR" dirty="0"/>
              <a:t> κάνουν επίσης </a:t>
            </a:r>
            <a:r>
              <a:rPr lang="en-GB" dirty="0"/>
              <a:t>shift.</a:t>
            </a:r>
            <a:endParaRPr lang="el-GR" dirty="0"/>
          </a:p>
          <a:p>
            <a:pPr lvl="4"/>
            <a:endParaRPr lang="el-GR" sz="1100" dirty="0"/>
          </a:p>
          <a:p>
            <a:endParaRPr lang="el-GR" dirty="0"/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88640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5522-DAAF-9229-3269-7FCB69BA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Runtime </a:t>
            </a:r>
            <a:r>
              <a:rPr lang="el-GR" dirty="0"/>
              <a:t>και τερματισμός του προγράμματος</a:t>
            </a:r>
            <a:endParaRPr lang="en-GR" dirty="0"/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A42ADB7-A093-6B22-0272-A2EB50E3F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230" y="1804194"/>
            <a:ext cx="4445760" cy="3777740"/>
          </a:xfrm>
        </p:spPr>
      </p:pic>
      <p:pic>
        <p:nvPicPr>
          <p:cNvPr id="7" name="Picture 6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26605D70-B3DA-EB0F-10EE-A55C8F14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11" y="1804194"/>
            <a:ext cx="4288971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5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1083</Words>
  <Application>Microsoft Macintosh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Helvetica</vt:lpstr>
      <vt:lpstr>Menlo</vt:lpstr>
      <vt:lpstr>Office Theme</vt:lpstr>
      <vt:lpstr>Παρουσίαση Ταυτόχρονου 1η σειρά εργασιών</vt:lpstr>
      <vt:lpstr>Περιγραφή προβλήματος 1</vt:lpstr>
      <vt:lpstr>Περιγραφή επικοινωνίας και συγχρονισμού threads  </vt:lpstr>
      <vt:lpstr>Βιβλιοθήκη και πρόσβαση χρήστη στα δεδομένα της </vt:lpstr>
      <vt:lpstr>Υλοποίηση συναρτήσεων βιβλιοθήκης</vt:lpstr>
      <vt:lpstr>Συνέχεια</vt:lpstr>
      <vt:lpstr>Περιγραφή προβλήματος 2</vt:lpstr>
      <vt:lpstr>Περιγραφή μεταβλητών</vt:lpstr>
      <vt:lpstr>Runtime και τερματισμός του προγράμματος</vt:lpstr>
      <vt:lpstr>Ανάλυση Απόδοσης</vt:lpstr>
      <vt:lpstr>Περιγραφή προβλήματος 3</vt:lpstr>
      <vt:lpstr>Περιγραφή επικοινωνίας και συγχρονισμού threads </vt:lpstr>
      <vt:lpstr>Τροποποίηση αλγορίθμων ταξινόμησης</vt:lpstr>
      <vt:lpstr>Runtime και τερματισμός του προγράμματος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MOUNTAKIS CHRISTOS</dc:creator>
  <cp:lastModifiedBy>MOUNTAKIS CHRISTOS</cp:lastModifiedBy>
  <cp:revision>179</cp:revision>
  <dcterms:created xsi:type="dcterms:W3CDTF">2024-10-17T18:23:19Z</dcterms:created>
  <dcterms:modified xsi:type="dcterms:W3CDTF">2024-10-23T20:58:56Z</dcterms:modified>
</cp:coreProperties>
</file>